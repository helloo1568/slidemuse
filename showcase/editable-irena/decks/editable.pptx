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32919254658385"/>
          <c:y val="0.025396825396825397"/>
          <c:w val="0.8322981366459627"/>
          <c:h val="0.730158730158730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2024年容量增量（GW约数）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Sheet1!$A$2:$A$4</c:f>
              <c:strCache>
                <c:ptCount val="3"/>
                <c:pt idx="0">
                  <c:v>太阳能</c:v>
                </c:pt>
                <c:pt idx="1">
                  <c:v>风能</c:v>
                </c:pt>
                <c:pt idx="2">
                  <c:v>其他（差额）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</c:v>
                </c:pt>
                <c:pt idx="1">
                  <c:v>113</c:v>
                </c:pt>
                <c:pt idx="2">
                  <c:v>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326086956521739"/>
          <c:y val="0.01568627450980392"/>
          <c:w val="0.6975155279503106"/>
          <c:h val="0.745098039215686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2024年新增可再生容量（GW约数）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中国、美国与欧盟（合计）</c:v>
                </c:pt>
                <c:pt idx="1">
                  <c:v>其他地区（差额）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</c:v>
                </c:pt>
                <c:pt idx="1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80745341614907"/>
          <c:y val="0.03164556962025317"/>
          <c:w val="0.7068322981366459"/>
          <c:h val="0.645569620253164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2024年实际新增（约）</c:v>
                </c:pt>
                <c:pt idx="1">
                  <c:v>报告情景年均需求（参考下限）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585</c:v>
                </c:pt>
                <c:pt idx="1">
                  <c:v>1120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第14页World行给出2023和2024年末存量。相减为585170MW，增长率约15.148538%，一位小数为15.1%。序言585GW为约数，与明细并不矛盾。多数年末接网口径不应扩张成所有离网装置绝不包含。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整数约数对应净容量变化。太阳能明细1865490−1413548=451942MW，风能1132837−1019603=113234MW；用总体585170扣除两项得19994MW。图以452/113/20用于直观比较，不把差额估算称作来源直接列出的技术分类。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可再生能源增长创纪录，为何仍需加速？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来源：IRENA（2025），PDF第3、70页；©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01 / 06</a:t>
            </a:r>
          </a:p>
        </p:txBody>
      </p:sp>
      <p:sp>
        <p:nvSpPr>
          <p:cNvPr id="5" name="card-1 | shape"/>
          <p:cNvSpPr/>
          <p:nvPr/>
        </p:nvSpPr>
        <p:spPr>
          <a:xfrm>
            <a:off x="364593" y="1348278"/>
            <a:ext cx="3791770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-2 | shape"/>
          <p:cNvSpPr/>
          <p:nvPr/>
        </p:nvSpPr>
        <p:spPr>
          <a:xfrm>
            <a:off x="4280325" y="1348278"/>
            <a:ext cx="3682392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3 | shape"/>
          <p:cNvSpPr/>
          <p:nvPr/>
        </p:nvSpPr>
        <p:spPr>
          <a:xfrm>
            <a:off x="8072095" y="1348278"/>
            <a:ext cx="3777186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laim | group"/>
          <p:cNvGrpSpPr/>
          <p:nvPr/>
        </p:nvGrpSpPr>
        <p:grpSpPr>
          <a:xfrm>
            <a:off x="583349" y="1668950"/>
            <a:ext cx="3368842" cy="2820452"/>
            <a:chOff x="583349" y="1668950"/>
            <a:chExt cx="3368842" cy="2820452"/>
          </a:xfrm>
        </p:grpSpPr>
        <p:sp>
          <p:nvSpPr>
            <p:cNvPr id="9" name="claim-label | text"/>
            <p:cNvSpPr txBox="1"/>
            <p:nvPr/>
          </p:nvSpPr>
          <p:spPr>
            <a:xfrm>
              <a:off x="583349" y="1668950"/>
              <a:ext cx="3368842" cy="76523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2024年新增可再生能源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容量约</a:t>
              </a:r>
            </a:p>
          </p:txBody>
        </p:sp>
        <p:sp>
          <p:nvSpPr>
            <p:cNvPr id="10" name="claim-value | text"/>
            <p:cNvSpPr txBox="1"/>
            <p:nvPr/>
          </p:nvSpPr>
          <p:spPr>
            <a:xfrm>
              <a:off x="583349" y="2660117"/>
              <a:ext cx="3368842" cy="88184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5229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585 GW；</a:t>
              </a:r>
            </a:p>
          </p:txBody>
        </p:sp>
        <p:sp>
          <p:nvSpPr>
            <p:cNvPr id="11" name="claim-growth | text"/>
            <p:cNvSpPr txBox="1"/>
            <p:nvPr/>
          </p:nvSpPr>
          <p:spPr>
            <a:xfrm>
              <a:off x="583349" y="3738739"/>
              <a:ext cx="3368842" cy="75066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年末装机容量同比增长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15.1%。</a:t>
              </a:r>
            </a:p>
          </p:txBody>
        </p:sp>
      </p:grpSp>
      <p:grpSp>
        <p:nvGrpSpPr>
          <p:cNvPr id="12" name="body-1 | group"/>
          <p:cNvGrpSpPr/>
          <p:nvPr/>
        </p:nvGrpSpPr>
        <p:grpSpPr>
          <a:xfrm>
            <a:off x="4440746" y="1668950"/>
            <a:ext cx="3361550" cy="2361309"/>
            <a:chOff x="4440746" y="1668950"/>
            <a:chExt cx="3361550" cy="2361309"/>
          </a:xfrm>
        </p:grpSpPr>
        <p:sp>
          <p:nvSpPr>
            <p:cNvPr id="13" name="body-1-label | text"/>
            <p:cNvSpPr txBox="1"/>
            <p:nvPr/>
          </p:nvSpPr>
          <p:spPr>
            <a:xfrm>
              <a:off x="4440746" y="1668950"/>
              <a:ext cx="3361550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年末存量：可再生能源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占全球发电装机容量的</a:t>
              </a:r>
            </a:p>
          </p:txBody>
        </p:sp>
        <p:sp>
          <p:nvSpPr>
            <p:cNvPr id="14" name="body-1-value | text"/>
            <p:cNvSpPr txBox="1"/>
            <p:nvPr/>
          </p:nvSpPr>
          <p:spPr>
            <a:xfrm>
              <a:off x="4448038" y="2937060"/>
              <a:ext cx="3354258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434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46.4%。</a:t>
              </a:r>
            </a:p>
          </p:txBody>
        </p:sp>
      </p:grpSp>
      <p:grpSp>
        <p:nvGrpSpPr>
          <p:cNvPr id="15" name="body-2 | group"/>
          <p:cNvGrpSpPr/>
          <p:nvPr/>
        </p:nvGrpSpPr>
        <p:grpSpPr>
          <a:xfrm>
            <a:off x="8217932" y="1668950"/>
            <a:ext cx="3463636" cy="2361309"/>
            <a:chOff x="8217932" y="1668950"/>
            <a:chExt cx="3463636" cy="2361309"/>
          </a:xfrm>
        </p:grpSpPr>
        <p:sp>
          <p:nvSpPr>
            <p:cNvPr id="16" name="body-2-label | text"/>
            <p:cNvSpPr txBox="1"/>
            <p:nvPr/>
          </p:nvSpPr>
          <p:spPr>
            <a:xfrm>
              <a:off x="8217932" y="1668950"/>
              <a:ext cx="3463636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当年增量：可再生能源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占全球新增电力容量的</a:t>
              </a:r>
            </a:p>
          </p:txBody>
        </p:sp>
        <p:sp>
          <p:nvSpPr>
            <p:cNvPr id="17" name="body-2-value | text"/>
            <p:cNvSpPr txBox="1"/>
            <p:nvPr/>
          </p:nvSpPr>
          <p:spPr>
            <a:xfrm>
              <a:off x="8217932" y="2937060"/>
              <a:ext cx="3463636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566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92.5%。</a:t>
              </a:r>
            </a:p>
          </p:txBody>
        </p:sp>
      </p:grpSp>
      <p:sp>
        <p:nvSpPr>
          <p:cNvPr id="18" name="body-3 | text"/>
          <p:cNvSpPr txBox="1"/>
          <p:nvPr/>
        </p:nvSpPr>
        <p:spPr>
          <a:xfrm>
            <a:off x="371885" y="4824650"/>
            <a:ext cx="11448229" cy="561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阅读问题：增长由谁推动、集中在哪里，离目标还差什么？</a:t>
            </a:r>
          </a:p>
        </p:txBody>
      </p:sp>
      <p:sp>
        <p:nvSpPr>
          <p:cNvPr id="19" name="boundary-panel | shape"/>
          <p:cNvSpPr/>
          <p:nvPr/>
        </p:nvSpPr>
        <p:spPr>
          <a:xfrm>
            <a:off x="379177" y="5451417"/>
            <a:ext cx="11433645" cy="918287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undary | text"/>
          <p:cNvSpPr txBox="1"/>
          <p:nvPr/>
        </p:nvSpPr>
        <p:spPr>
          <a:xfrm>
            <a:off x="605225" y="5604465"/>
            <a:ext cx="11010717" cy="6777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两个比例的分母不同；装机容量不等于实际发电量。仅解读2025版报告对2024年的统计。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先分清年末存量，再计算年度变化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来源：IRENA（2025），PDF第7、14页；差额和增长率为本稿计算；©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02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88555" y="1355566"/>
            <a:ext cx="11302391" cy="510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全球可再生装机从3,862,881 MW增至4,448,051 MW。</a:t>
            </a:r>
          </a:p>
        </p:txBody>
      </p:sp>
      <p:graphicFrame>
        <p:nvGraphicFramePr>
          <p:cNvPr id="6" name="data-table | table"/>
          <p:cNvGraphicFramePr>
            <a:graphicFrameLocks noGrp="1"/>
          </p:cNvGraphicFramePr>
          <p:nvPr/>
        </p:nvGraphicFramePr>
        <p:xfrm>
          <a:off x="503139" y="2084365"/>
          <a:ext cx="5323062" cy="2230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5378"/>
                <a:gridCol w="2927684"/>
              </a:tblGrid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数值（MW）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2023年末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3,862,881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2024年末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4,448,051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2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差额（本稿计算）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585,170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</a:tbl>
          </a:graphicData>
        </a:graphic>
      </p:graphicFrame>
      <p:sp>
        <p:nvSpPr>
          <p:cNvPr id="7" name="body-1 | text"/>
          <p:cNvSpPr txBox="1"/>
          <p:nvPr/>
        </p:nvSpPr>
        <p:spPr>
          <a:xfrm>
            <a:off x="6096000" y="2762148"/>
            <a:ext cx="5760574" cy="54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本稿计算：4,448,051 − 3,862,881 = 585,170 MW。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6096000" y="3352476"/>
            <a:ext cx="5760574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增长率：585,170 ÷ 3,862,881 × 100% ≈ 15.1%。</a:t>
            </a:r>
          </a:p>
        </p:txBody>
      </p:sp>
      <p:sp>
        <p:nvSpPr>
          <p:cNvPr id="9" name="boundary-panel | shape"/>
          <p:cNvSpPr/>
          <p:nvPr/>
        </p:nvSpPr>
        <p:spPr>
          <a:xfrm>
            <a:off x="320842" y="4554994"/>
            <a:ext cx="11550315" cy="1457598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-3 | text"/>
          <p:cNvSpPr txBox="1"/>
          <p:nvPr/>
        </p:nvSpPr>
        <p:spPr>
          <a:xfrm>
            <a:off x="510431" y="4853802"/>
            <a:ext cx="11069052" cy="415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口径：最大净发电容量；多数国家和技术按年末已安装并接网容量统计。</a:t>
            </a:r>
          </a:p>
        </p:txBody>
      </p:sp>
      <p:sp>
        <p:nvSpPr>
          <p:cNvPr id="11" name="boundary | text"/>
          <p:cNvSpPr txBox="1"/>
          <p:nvPr/>
        </p:nvSpPr>
        <p:spPr>
          <a:xfrm>
            <a:off x="510431" y="5356673"/>
            <a:ext cx="11098219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1 GW = 1,000 MW；585,170 MW即585.170 GW。表中差额是存量净变化，不代表每个项目的毛投产量。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太阳能主导2024年的新增容量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来源：IRENA（2025），PDF第3、14、26、33页；份额及差额为本稿计算；©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03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按序言约数，太阳能约占新增可再生容量的77.3%。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186397"/>
          <a:ext cx="11739903" cy="2295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-swatch | shape"/>
          <p:cNvSpPr/>
          <p:nvPr/>
        </p:nvSpPr>
        <p:spPr>
          <a:xfrm>
            <a:off x="7226239" y="1894878"/>
            <a:ext cx="204172" cy="204064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-label | text"/>
          <p:cNvSpPr txBox="1"/>
          <p:nvPr/>
        </p:nvSpPr>
        <p:spPr>
          <a:xfrm>
            <a:off x="7547081" y="1873014"/>
            <a:ext cx="4265741" cy="298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2024年容量增量（GW约数）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03139" y="4678890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太阳能452 GW；风能113 GW；其他约20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503139" y="5072441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差额估算：585 − 452 − 113 = 20 GW。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503139" y="5458705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太阳能份额：452 ÷ 585 × 100% ≈ 77.3%。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408344" y="5808528"/>
            <a:ext cx="11375310" cy="5101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90641" y="5932424"/>
            <a:ext cx="11010717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全图使用序言的GW约数；其他是差额估算。明细表精确差额约为451.942、113.234、19.994 GW。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新增容量在少数大型市场集中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来源：IRENA（2025），PDF第3页；96 GW为本稿差额计算；©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04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中国、美国与欧盟合计新增489 GW，占全球新增的83.6%。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368597"/>
          <a:ext cx="11739903" cy="18584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rt-title | text"/>
          <p:cNvSpPr txBox="1"/>
          <p:nvPr/>
        </p:nvSpPr>
        <p:spPr>
          <a:xfrm>
            <a:off x="2960497" y="2084365"/>
            <a:ext cx="7816880" cy="32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2024年新增可再生容量（GW约数）</a:t>
            </a:r>
          </a:p>
        </p:txBody>
      </p:sp>
      <p:sp>
        <p:nvSpPr>
          <p:cNvPr id="8" name="chart-unit | text"/>
          <p:cNvSpPr txBox="1"/>
          <p:nvPr/>
        </p:nvSpPr>
        <p:spPr>
          <a:xfrm>
            <a:off x="11521147" y="3964667"/>
            <a:ext cx="473971" cy="29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GW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437512" y="4482114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比较基数：2024年全球可再生能源新增约585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437512" y="4853802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其他地区约96 GW，是585 − 489的差额。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437512" y="5232777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非洲新增4.2 GW、约占0.7%；它属于其他地区，不能再与96 GW相加。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357301" y="5684633"/>
            <a:ext cx="11484688" cy="561175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83349" y="5874120"/>
            <a:ext cx="11047176" cy="357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类别按序言的市场组合作比较，不等于三个国家；不能从一年的总量判断每个人的能源可及性。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创纪录的增速，仍未自动满足2030目标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来源：IRENA（2025），PDF第3页；585/1,120约52.2%为本稿计算；©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05 / 06</a:t>
            </a:r>
          </a:p>
        </p:txBody>
      </p:sp>
      <p:graphicFrame>
        <p:nvGraphicFramePr>
          <p:cNvPr id="5" name="data-chart | chart"/>
          <p:cNvGraphicFramePr>
            <a:graphicFrameLocks noGrp="1"/>
          </p:cNvGraphicFramePr>
          <p:nvPr/>
        </p:nvGraphicFramePr>
        <p:xfrm>
          <a:off x="218756" y="1238958"/>
          <a:ext cx="11739903" cy="23030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laim | text"/>
          <p:cNvSpPr txBox="1"/>
          <p:nvPr/>
        </p:nvSpPr>
        <p:spPr>
          <a:xfrm>
            <a:off x="386469" y="3614843"/>
            <a:ext cx="11375310" cy="4445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报告在2025年判断：余下六年每年新增需超过1,120 GW。</a:t>
            </a:r>
          </a:p>
        </p:txBody>
      </p:sp>
      <p:sp>
        <p:nvSpPr>
          <p:cNvPr id="7" name="body-1 | text"/>
          <p:cNvSpPr txBox="1"/>
          <p:nvPr/>
        </p:nvSpPr>
        <p:spPr>
          <a:xfrm>
            <a:off x="386469" y="4125003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情景目标：到2030年，将可再生装机容量增至约11 TW。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386469" y="4606010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参考比较：2024年约585 GW，与1,120 GW参考下限相比，约为其52.2%。</a:t>
            </a:r>
          </a:p>
        </p:txBody>
      </p:sp>
      <p:sp>
        <p:nvSpPr>
          <p:cNvPr id="9" name="body-3 | text"/>
          <p:cNvSpPr txBox="1"/>
          <p:nvPr/>
        </p:nvSpPr>
        <p:spPr>
          <a:xfrm>
            <a:off x="386469" y="5087017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阅读含义：年度增长需要加快，也需要电网灵活性及对波动电源的适应。</a:t>
            </a:r>
          </a:p>
        </p:txBody>
      </p:sp>
      <p:sp>
        <p:nvSpPr>
          <p:cNvPr id="10" name="boundary-panel | shape"/>
          <p:cNvSpPr/>
          <p:nvPr/>
        </p:nvSpPr>
        <p:spPr>
          <a:xfrm>
            <a:off x="335426" y="5648193"/>
            <a:ext cx="11521147" cy="575751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ary | text"/>
          <p:cNvSpPr txBox="1"/>
          <p:nvPr/>
        </p:nvSpPr>
        <p:spPr>
          <a:xfrm>
            <a:off x="525014" y="5852256"/>
            <a:ext cx="11120095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来源要求是超过1,120 GW，不是恰好1,120；这是2025报告时点的情景需求，不是当前年份的确定预测。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可靠使用这份统计，需要四个检查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来源：IRENA（2025），PDF第3、7页；检查清单为本稿归纳；©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06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510431" y="1428446"/>
            <a:ext cx="11229473" cy="539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先查单位、分母、时间与数据标记，再提出结论。</a:t>
            </a:r>
          </a:p>
        </p:txBody>
      </p:sp>
      <p:sp>
        <p:nvSpPr>
          <p:cNvPr id="6" name="card-1 | shape"/>
          <p:cNvSpPr/>
          <p:nvPr/>
        </p:nvSpPr>
        <p:spPr>
          <a:xfrm>
            <a:off x="3500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er-1 | shape"/>
          <p:cNvSpPr/>
          <p:nvPr/>
        </p:nvSpPr>
        <p:spPr>
          <a:xfrm>
            <a:off x="3500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-label-1 | text"/>
          <p:cNvSpPr txBox="1"/>
          <p:nvPr/>
        </p:nvSpPr>
        <p:spPr>
          <a:xfrm>
            <a:off x="5687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单位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687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单位：MW与GW差1,000倍；容量不能替代实际发电量。</a:t>
            </a:r>
          </a:p>
        </p:txBody>
      </p:sp>
      <p:sp>
        <p:nvSpPr>
          <p:cNvPr id="10" name="card-2 | shape"/>
          <p:cNvSpPr/>
          <p:nvPr/>
        </p:nvSpPr>
        <p:spPr>
          <a:xfrm>
            <a:off x="3281339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header-2 | shape"/>
          <p:cNvSpPr/>
          <p:nvPr/>
        </p:nvSpPr>
        <p:spPr>
          <a:xfrm>
            <a:off x="3281339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abel-2 | text"/>
          <p:cNvSpPr txBox="1"/>
          <p:nvPr/>
        </p:nvSpPr>
        <p:spPr>
          <a:xfrm>
            <a:off x="3500095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分母</a:t>
            </a:r>
          </a:p>
        </p:txBody>
      </p:sp>
      <p:sp>
        <p:nvSpPr>
          <p:cNvPr id="13" name="body-2 | text"/>
          <p:cNvSpPr txBox="1"/>
          <p:nvPr/>
        </p:nvSpPr>
        <p:spPr>
          <a:xfrm>
            <a:off x="3500095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分母：年末存量份额与当年新增份额应分开解释。</a:t>
            </a:r>
          </a:p>
        </p:txBody>
      </p:sp>
      <p:sp>
        <p:nvSpPr>
          <p:cNvPr id="14" name="card-3 | shape"/>
          <p:cNvSpPr/>
          <p:nvPr/>
        </p:nvSpPr>
        <p:spPr>
          <a:xfrm>
            <a:off x="61762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-header-3 | shape"/>
          <p:cNvSpPr/>
          <p:nvPr/>
        </p:nvSpPr>
        <p:spPr>
          <a:xfrm>
            <a:off x="61762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-label-3 | text"/>
          <p:cNvSpPr txBox="1"/>
          <p:nvPr/>
        </p:nvSpPr>
        <p:spPr>
          <a:xfrm>
            <a:off x="63949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时间</a:t>
            </a:r>
          </a:p>
        </p:txBody>
      </p:sp>
      <p:sp>
        <p:nvSpPr>
          <p:cNvPr id="17" name="body-3 | text"/>
          <p:cNvSpPr txBox="1"/>
          <p:nvPr/>
        </p:nvSpPr>
        <p:spPr>
          <a:xfrm>
            <a:off x="63949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时间：2025版主要反映2024年末；目标情景按报告原时点解读。</a:t>
            </a:r>
          </a:p>
        </p:txBody>
      </p:sp>
      <p:sp>
        <p:nvSpPr>
          <p:cNvPr id="18" name="card-4 | shape"/>
          <p:cNvSpPr/>
          <p:nvPr/>
        </p:nvSpPr>
        <p:spPr>
          <a:xfrm>
            <a:off x="9071081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-header-4 | shape"/>
          <p:cNvSpPr/>
          <p:nvPr/>
        </p:nvSpPr>
        <p:spPr>
          <a:xfrm>
            <a:off x="9071081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-label-4 | text"/>
          <p:cNvSpPr txBox="1"/>
          <p:nvPr/>
        </p:nvSpPr>
        <p:spPr>
          <a:xfrm>
            <a:off x="9289837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标记</a:t>
            </a:r>
          </a:p>
        </p:txBody>
      </p:sp>
      <p:sp>
        <p:nvSpPr>
          <p:cNvPr id="21" name="body-4 | text"/>
          <p:cNvSpPr txBox="1"/>
          <p:nvPr/>
        </p:nvSpPr>
        <p:spPr>
          <a:xfrm>
            <a:off x="9289837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标记：o为官方来源，u为非官方来源，e为IRENA估计；问卷数据不附标记。</a:t>
            </a:r>
          </a:p>
        </p:txBody>
      </p:sp>
      <p:sp>
        <p:nvSpPr>
          <p:cNvPr id="22" name="boundary-panel | shape"/>
          <p:cNvSpPr/>
          <p:nvPr/>
        </p:nvSpPr>
        <p:spPr>
          <a:xfrm>
            <a:off x="350010" y="5225489"/>
            <a:ext cx="11506564" cy="8745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undary | text"/>
          <p:cNvSpPr txBox="1"/>
          <p:nvPr/>
        </p:nvSpPr>
        <p:spPr>
          <a:xfrm>
            <a:off x="590641" y="5538873"/>
            <a:ext cx="11047176" cy="473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本稿所用容量表按整数MW四舍五入，0—0.5 MW显示为0；不能直接认定这些条目表示完全没有设施。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